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9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7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3B77FB-EDED-AC90-9CBB-B827D37826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DF93E5B-A064-8205-157A-F18EFD1E44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B66FD4-878D-13F2-CC21-B733EAAF4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638E6-BA4A-4231-B098-26751AEDAB6E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B0A715-8300-A8B3-6AD3-0D9420C4D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FC7BB1-0897-AAA0-F9B1-DA78E54C2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D5AFE-7E7D-45B8-952F-51DAA0284C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7981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351B41-AF83-587B-1298-2CB7DC146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B19AF0-AEC8-5444-A7BA-714221BCD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249C76-795F-FA2F-1DDF-31EFA55A5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638E6-BA4A-4231-B098-26751AEDAB6E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BF9AC3-7152-1D96-4A59-6CA5F4CFD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A0B207-8D4A-1B28-57EB-0F68E1627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D5AFE-7E7D-45B8-952F-51DAA0284C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9714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A118C1-E924-0513-F81A-6F025F5D8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88C8EF-3F40-0BA9-11A6-7CF16E9C3A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911799-D5B0-3151-FBE9-AA6B0A5F4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638E6-BA4A-4231-B098-26751AEDAB6E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93CB0C-61D3-90F3-0299-776A5A309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95A428-556C-32E0-9142-1BC19FD80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D5AFE-7E7D-45B8-952F-51DAA0284C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6863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C1ACE0-BB7D-F789-9124-D9F698074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2AF1CC-3802-5935-9E81-D9AD7BE4B3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27BF41B-245E-52D9-144F-42B5F1DA0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CC93118-4A49-5137-0BB5-D6DE37944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638E6-BA4A-4231-B098-26751AEDAB6E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3715381-EDCC-8836-F245-A875E95D3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B1ECC33-B4A2-AE4F-3D28-0DE42AE29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D5AFE-7E7D-45B8-952F-51DAA0284C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5447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C83F23-E517-D7F7-D255-037DE1802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28235C-54AF-521F-FE4E-50DD8A397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D9C3725-D64B-11E7-7489-DA75A1C40C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1E76954-493B-955A-E346-ABD07DA5F1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12DE32B-EF45-8446-CA33-D5245F42FB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CFB7700-F1D8-62BA-A6F6-2EEB7FB23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638E6-BA4A-4231-B098-26751AEDAB6E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F4D930D-5570-EA33-7E7A-28063E57A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DE2199C-62E8-0C66-C1EA-E4113F767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D5AFE-7E7D-45B8-952F-51DAA0284C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2368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6A29A6-647E-DBA5-CACB-3146C2A06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CA2DD0B-1519-6E04-94CA-9A70F464D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638E6-BA4A-4231-B098-26751AEDAB6E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F37497C-D346-163E-46BB-BD3F91C9D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7066926-AA92-094E-4041-D8F05637A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D5AFE-7E7D-45B8-952F-51DAA0284C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3715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CA23E38-69BD-CBF4-89FF-1BFCA0647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638E6-BA4A-4231-B098-26751AEDAB6E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BF6A070-2CAF-FDDA-9756-965E948EB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B9B72F-7E78-45BE-13BD-180EF42F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D5AFE-7E7D-45B8-952F-51DAA0284C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5781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7D1FAF-9B63-F18E-464B-5176E5993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FE276C-4B36-DE9C-653A-EC53ABB9C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09E1851-AAD4-D1F8-EF98-C0CBF751EF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EFA3BD5-8A87-5655-693E-2E30A8898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638E6-BA4A-4231-B098-26751AEDAB6E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CF1DA40-797B-D241-32B9-535F42959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B51793E-9D23-BE6F-3282-1B454A4CB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D5AFE-7E7D-45B8-952F-51DAA0284C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2449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2457A7-7342-2A68-E14D-9A5B74791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D4E740F-0908-B64F-D34B-08F1D5529B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7921351-6E87-3AA9-B29A-BB0F3FA4DB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1FDF02D-0454-0264-B192-E664D5FD7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638E6-BA4A-4231-B098-26751AEDAB6E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24EEB6-F1AB-5E81-9719-AF7E88769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86C60F2-C2A8-38B0-2FDB-ED92DF08C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D5AFE-7E7D-45B8-952F-51DAA0284C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9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0C7D92-AE0B-FA5D-250A-5433A243D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6764D6A-4471-411A-6572-EFE871F023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60B22A-8051-5011-5A40-B7CAA27E2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638E6-BA4A-4231-B098-26751AEDAB6E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DF65DF-7783-A5C4-0A7C-D76380892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AA7F72-D7D2-AD6A-623E-E31D0108B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D5AFE-7E7D-45B8-952F-51DAA0284C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69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196C03C-77A5-03BD-6AB6-E8C39AEA05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E96DA78-2F19-8819-824F-D2E5F927B8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A406E1-429D-3201-7E0C-67814F759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638E6-BA4A-4231-B098-26751AEDAB6E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CB61A8-92A5-B92C-3E0A-10F899107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6D597-57EF-3B17-C51D-5183EA850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D5AFE-7E7D-45B8-952F-51DAA0284C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419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6E73D60-1C49-9A33-0262-7CF4A3102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F7E4613-A177-000C-968A-721B36DDCC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F21913-AB32-5DAE-428D-426A113802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A638E6-BA4A-4231-B098-26751AEDAB6E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913BF2-A462-0A94-EFD4-D5D0FA6CC3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7BFB24-EAE9-D9E0-BCD7-61860D415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6D5AFE-7E7D-45B8-952F-51DAA0284C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7926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BCCD839-77CA-6091-321D-814CE5C0C106}"/>
              </a:ext>
            </a:extLst>
          </p:cNvPr>
          <p:cNvSpPr/>
          <p:nvPr/>
        </p:nvSpPr>
        <p:spPr>
          <a:xfrm>
            <a:off x="363158" y="476017"/>
            <a:ext cx="775503" cy="2338086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/>
              <a:t>D405-Vision</a:t>
            </a:r>
          </a:p>
          <a:p>
            <a:pPr algn="ctr"/>
            <a:endParaRPr lang="en-US" altLang="zh-CN" sz="1600" b="1" dirty="0"/>
          </a:p>
          <a:p>
            <a:pPr algn="ctr"/>
            <a:r>
              <a:rPr lang="zh-CN" altLang="en-US" sz="1600" b="1" dirty="0"/>
              <a:t>视觉模块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CB5F3C8-E0BE-02A0-4D0E-AB1942CF7368}"/>
              </a:ext>
            </a:extLst>
          </p:cNvPr>
          <p:cNvCxnSpPr>
            <a:cxnSpLocks/>
          </p:cNvCxnSpPr>
          <p:nvPr/>
        </p:nvCxnSpPr>
        <p:spPr>
          <a:xfrm>
            <a:off x="1157468" y="1070657"/>
            <a:ext cx="1472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A11BF11B-1628-7896-35BD-AD043657EE29}"/>
              </a:ext>
            </a:extLst>
          </p:cNvPr>
          <p:cNvSpPr/>
          <p:nvPr/>
        </p:nvSpPr>
        <p:spPr>
          <a:xfrm>
            <a:off x="2630347" y="502969"/>
            <a:ext cx="4809278" cy="23380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sz="1400" b="1" dirty="0"/>
              <a:t>任务生命周期与状态机</a:t>
            </a:r>
            <a:endParaRPr lang="en-US" altLang="zh-CN" sz="1400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zh-CN" altLang="zh-CN" b="1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9DF6FF0-9710-1B2D-A258-72F66B24D313}"/>
              </a:ext>
            </a:extLst>
          </p:cNvPr>
          <p:cNvSpPr/>
          <p:nvPr/>
        </p:nvSpPr>
        <p:spPr>
          <a:xfrm>
            <a:off x="2630348" y="843644"/>
            <a:ext cx="2980480" cy="59030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sz="1400" dirty="0">
                <a:latin typeface="+mn-ea"/>
              </a:rPr>
              <a:t>runTaskLoop</a:t>
            </a:r>
            <a:endParaRPr lang="en-US" altLang="zh-CN" sz="1400" dirty="0">
              <a:latin typeface="+mn-ea"/>
            </a:endParaRPr>
          </a:p>
          <a:p>
            <a:r>
              <a:rPr lang="zh-CN" altLang="en-US" sz="1400" dirty="0">
                <a:latin typeface="+mn-ea"/>
              </a:rPr>
              <a:t>任务列表</a:t>
            </a:r>
            <a:r>
              <a:rPr lang="en-US" altLang="zh-CN" sz="1400" dirty="0">
                <a:latin typeface="+mn-ea"/>
              </a:rPr>
              <a:t>-&gt;</a:t>
            </a:r>
            <a:r>
              <a:rPr lang="zh-CN" altLang="en-US" sz="1400" dirty="0">
                <a:latin typeface="+mn-ea"/>
              </a:rPr>
              <a:t>轮询执行机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DBF5761-3B74-0806-5C17-A818AF47AE65}"/>
              </a:ext>
            </a:extLst>
          </p:cNvPr>
          <p:cNvSpPr/>
          <p:nvPr/>
        </p:nvSpPr>
        <p:spPr>
          <a:xfrm>
            <a:off x="2630348" y="2540654"/>
            <a:ext cx="2254167" cy="27344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1200" dirty="0"/>
              <a:t>projectTo2D</a:t>
            </a:r>
            <a:r>
              <a:rPr lang="zh-CN" altLang="en-US" sz="1400" dirty="0"/>
              <a:t>数据处理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57E5367-1AF3-036C-20C3-A8E977C3AA9F}"/>
              </a:ext>
            </a:extLst>
          </p:cNvPr>
          <p:cNvSpPr/>
          <p:nvPr/>
        </p:nvSpPr>
        <p:spPr>
          <a:xfrm>
            <a:off x="2630348" y="1844723"/>
            <a:ext cx="2873414" cy="27344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sz="1400" dirty="0"/>
              <a:t>taskExecute</a:t>
            </a:r>
            <a:r>
              <a:rPr lang="en-US" altLang="zh-CN" sz="1400" dirty="0"/>
              <a:t> </a:t>
            </a:r>
            <a:r>
              <a:rPr lang="zh-CN" altLang="en-US" sz="1400" dirty="0"/>
              <a:t>求解</a:t>
            </a:r>
            <a:r>
              <a:rPr lang="en-US" altLang="zh-CN" sz="1400" dirty="0"/>
              <a:t>/</a:t>
            </a:r>
            <a:r>
              <a:rPr lang="zh-CN" altLang="en-US" sz="1400" dirty="0"/>
              <a:t>任务执行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584DA5D-B104-37EB-86AF-9437226D9650}"/>
              </a:ext>
            </a:extLst>
          </p:cNvPr>
          <p:cNvSpPr txBox="1"/>
          <p:nvPr/>
        </p:nvSpPr>
        <p:spPr>
          <a:xfrm>
            <a:off x="1069212" y="625559"/>
            <a:ext cx="2314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200" b="1" dirty="0"/>
              <a:t>TaskCommand JSON</a:t>
            </a:r>
            <a:endParaRPr lang="en-US" altLang="zh-CN" sz="1200" b="1" dirty="0"/>
          </a:p>
          <a:p>
            <a:r>
              <a:rPr lang="en-US" altLang="zh-CN" sz="1200" b="1" dirty="0"/>
              <a:t>      </a:t>
            </a:r>
            <a:r>
              <a:rPr lang="zh-CN" altLang="en-US" sz="1200" b="1" dirty="0"/>
              <a:t>格式任务指令</a:t>
            </a:r>
            <a:endParaRPr lang="zh-CN" altLang="en-US" sz="12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216A511-D0EE-6357-4701-0714D1DBC501}"/>
              </a:ext>
            </a:extLst>
          </p:cNvPr>
          <p:cNvSpPr txBox="1"/>
          <p:nvPr/>
        </p:nvSpPr>
        <p:spPr>
          <a:xfrm flipH="1">
            <a:off x="1157468" y="1148792"/>
            <a:ext cx="19503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200" b="1" dirty="0"/>
              <a:t>TaskStatus</a:t>
            </a:r>
            <a:r>
              <a:rPr lang="zh-CN" altLang="zh-CN" sz="1400" b="1" dirty="0"/>
              <a:t> JSON</a:t>
            </a:r>
            <a:endParaRPr lang="en-US" altLang="zh-CN" sz="1400" b="1" dirty="0"/>
          </a:p>
          <a:p>
            <a:r>
              <a:rPr lang="zh-CN" altLang="en-US" sz="1100" b="1" dirty="0"/>
              <a:t>     任务状态反馈</a:t>
            </a:r>
            <a:endParaRPr lang="zh-CN" altLang="zh-CN" sz="1100" b="1" dirty="0"/>
          </a:p>
          <a:p>
            <a:endParaRPr lang="zh-CN" altLang="en-US" sz="1400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84FBF3C3-A56C-165D-C74F-4A42DAB8663D}"/>
              </a:ext>
            </a:extLst>
          </p:cNvPr>
          <p:cNvCxnSpPr/>
          <p:nvPr/>
        </p:nvCxnSpPr>
        <p:spPr>
          <a:xfrm flipH="1">
            <a:off x="1135765" y="1187712"/>
            <a:ext cx="14945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582BC2FC-578F-72D3-02F2-C8A033A5C030}"/>
              </a:ext>
            </a:extLst>
          </p:cNvPr>
          <p:cNvSpPr/>
          <p:nvPr/>
        </p:nvSpPr>
        <p:spPr>
          <a:xfrm>
            <a:off x="2630347" y="4154132"/>
            <a:ext cx="6137475" cy="19976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/>
              <a:t>运动学与仿真层</a:t>
            </a:r>
            <a:endParaRPr lang="en-US" altLang="zh-CN" sz="1400" dirty="0"/>
          </a:p>
          <a:p>
            <a:endParaRPr lang="en-US" altLang="zh-CN" sz="1400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7E0B106-CABB-ACE3-B99D-A96579FA8FCC}"/>
              </a:ext>
            </a:extLst>
          </p:cNvPr>
          <p:cNvSpPr/>
          <p:nvPr/>
        </p:nvSpPr>
        <p:spPr>
          <a:xfrm>
            <a:off x="2630348" y="3147997"/>
            <a:ext cx="2254168" cy="60477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sz="1400" b="1" dirty="0"/>
              <a:t>createArmMode</a:t>
            </a:r>
            <a:endParaRPr lang="en-US" altLang="zh-CN" sz="1400" b="1" dirty="0"/>
          </a:p>
          <a:p>
            <a:r>
              <a:rPr lang="zh-CN" altLang="en-US" sz="1400" b="1" dirty="0"/>
              <a:t>全局参数与模型构建</a:t>
            </a:r>
            <a:endParaRPr lang="zh-CN" altLang="en-US" sz="1400" dirty="0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43E18D97-02C1-CD18-7D6D-20F55DFE7224}"/>
              </a:ext>
            </a:extLst>
          </p:cNvPr>
          <p:cNvCxnSpPr>
            <a:cxnSpLocks/>
          </p:cNvCxnSpPr>
          <p:nvPr/>
        </p:nvCxnSpPr>
        <p:spPr>
          <a:xfrm>
            <a:off x="4548851" y="2814103"/>
            <a:ext cx="0" cy="3226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135A7E41-C0A6-FF6C-61F8-115DBA5D1BD1}"/>
              </a:ext>
            </a:extLst>
          </p:cNvPr>
          <p:cNvCxnSpPr/>
          <p:nvPr/>
        </p:nvCxnSpPr>
        <p:spPr>
          <a:xfrm>
            <a:off x="4548851" y="3762177"/>
            <a:ext cx="0" cy="39195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D44BE4CF-7B37-40E8-0B10-3A4E5EE4C8B8}"/>
              </a:ext>
            </a:extLst>
          </p:cNvPr>
          <p:cNvCxnSpPr>
            <a:cxnSpLocks/>
          </p:cNvCxnSpPr>
          <p:nvPr/>
        </p:nvCxnSpPr>
        <p:spPr>
          <a:xfrm>
            <a:off x="5173884" y="1439672"/>
            <a:ext cx="0" cy="4107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0A06F482-67BF-B723-28CE-5E34B875D999}"/>
              </a:ext>
            </a:extLst>
          </p:cNvPr>
          <p:cNvCxnSpPr/>
          <p:nvPr/>
        </p:nvCxnSpPr>
        <p:spPr>
          <a:xfrm>
            <a:off x="5185458" y="2118172"/>
            <a:ext cx="0" cy="20359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B867D980-06EE-8D0C-773D-3915C81E0D9A}"/>
              </a:ext>
            </a:extLst>
          </p:cNvPr>
          <p:cNvSpPr txBox="1"/>
          <p:nvPr/>
        </p:nvSpPr>
        <p:spPr>
          <a:xfrm>
            <a:off x="3045588" y="3722621"/>
            <a:ext cx="41133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00B0F0"/>
                </a:solidFill>
              </a:rPr>
              <a:t>参数</a:t>
            </a:r>
            <a:r>
              <a:rPr lang="zh-CN" altLang="zh-CN" sz="1200" dirty="0">
                <a:solidFill>
                  <a:srgbClr val="00B0F0"/>
                </a:solidFill>
              </a:rPr>
              <a:t>model, method, </a:t>
            </a:r>
            <a:endParaRPr lang="en-US" altLang="zh-CN" sz="1200" dirty="0">
              <a:solidFill>
                <a:srgbClr val="00B0F0"/>
              </a:solidFill>
            </a:endParaRPr>
          </a:p>
          <a:p>
            <a:r>
              <a:rPr lang="zh-CN" altLang="zh-CN" sz="1200" dirty="0">
                <a:solidFill>
                  <a:srgbClr val="00B0F0"/>
                </a:solidFill>
              </a:rPr>
              <a:t>q0, target, varargin</a:t>
            </a:r>
            <a:r>
              <a:rPr lang="zh-CN" altLang="en-US" sz="1200" dirty="0">
                <a:solidFill>
                  <a:srgbClr val="00B0F0"/>
                </a:solidFill>
              </a:rPr>
              <a:t>等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ED26D73-237E-DDD8-0402-A3DC3F5D3A10}"/>
              </a:ext>
            </a:extLst>
          </p:cNvPr>
          <p:cNvSpPr txBox="1"/>
          <p:nvPr/>
        </p:nvSpPr>
        <p:spPr>
          <a:xfrm>
            <a:off x="3213764" y="2863088"/>
            <a:ext cx="1865733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rgbClr val="00B0F0"/>
                </a:solidFill>
              </a:rPr>
              <a:t>参数</a:t>
            </a:r>
            <a:r>
              <a:rPr lang="zh-CN" altLang="zh-CN" sz="1100" dirty="0">
                <a:solidFill>
                  <a:srgbClr val="00B0F0"/>
                </a:solidFill>
              </a:rPr>
              <a:t>target, varargin</a:t>
            </a:r>
            <a:endParaRPr lang="zh-CN" altLang="en-US" sz="1100" dirty="0">
              <a:solidFill>
                <a:srgbClr val="00B0F0"/>
              </a:solidFill>
            </a:endParaRPr>
          </a:p>
          <a:p>
            <a:endParaRPr lang="zh-CN" altLang="en-US" sz="1200" dirty="0"/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09A6D421-B2D4-056B-DCB7-76769DC619D7}"/>
              </a:ext>
            </a:extLst>
          </p:cNvPr>
          <p:cNvCxnSpPr>
            <a:endCxn id="12" idx="1"/>
          </p:cNvCxnSpPr>
          <p:nvPr/>
        </p:nvCxnSpPr>
        <p:spPr>
          <a:xfrm>
            <a:off x="1135765" y="2677378"/>
            <a:ext cx="149458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31D6B015-335B-9882-2A50-122A6F21B00C}"/>
              </a:ext>
            </a:extLst>
          </p:cNvPr>
          <p:cNvSpPr txBox="1"/>
          <p:nvPr/>
        </p:nvSpPr>
        <p:spPr>
          <a:xfrm>
            <a:off x="1244622" y="2422781"/>
            <a:ext cx="149168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p</a:t>
            </a:r>
            <a:r>
              <a:rPr lang="zh-CN" altLang="zh-CN" sz="1400" b="1" dirty="0"/>
              <a:t>ose3d</a:t>
            </a:r>
            <a:r>
              <a:rPr lang="en-US" altLang="zh-CN" sz="1400" b="1" dirty="0"/>
              <a:t> JSON</a:t>
            </a:r>
          </a:p>
          <a:p>
            <a:r>
              <a:rPr lang="zh-CN" altLang="en-US" sz="1100" b="1" dirty="0"/>
              <a:t>    相对位姿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C1C347F-B78F-A179-AD53-4237F0C17E11}"/>
              </a:ext>
            </a:extLst>
          </p:cNvPr>
          <p:cNvSpPr/>
          <p:nvPr/>
        </p:nvSpPr>
        <p:spPr>
          <a:xfrm>
            <a:off x="369190" y="3136152"/>
            <a:ext cx="1666590" cy="60477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1400" b="1" dirty="0"/>
              <a:t>modelDefaults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默认参数模板</a:t>
            </a: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AEA41340-B6A8-B6E1-94A9-470572DE6E2D}"/>
              </a:ext>
            </a:extLst>
          </p:cNvPr>
          <p:cNvCxnSpPr>
            <a:stCxn id="36" idx="3"/>
            <a:endCxn id="8" idx="1"/>
          </p:cNvCxnSpPr>
          <p:nvPr/>
        </p:nvCxnSpPr>
        <p:spPr>
          <a:xfrm>
            <a:off x="2035780" y="3438540"/>
            <a:ext cx="594568" cy="11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79C166A5-1AA0-AAC9-8FDF-7CA94EA7A5CA}"/>
              </a:ext>
            </a:extLst>
          </p:cNvPr>
          <p:cNvSpPr txBox="1"/>
          <p:nvPr/>
        </p:nvSpPr>
        <p:spPr>
          <a:xfrm>
            <a:off x="2035780" y="3232701"/>
            <a:ext cx="6078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预设参</a:t>
            </a:r>
            <a:endParaRPr lang="en-US" altLang="zh-CN" sz="1100" b="1" dirty="0"/>
          </a:p>
          <a:p>
            <a:r>
              <a:rPr lang="zh-CN" altLang="en-US" sz="1100" b="1" dirty="0"/>
              <a:t>数补全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AEBF8FB-B650-1ED9-6531-162A51E136AF}"/>
              </a:ext>
            </a:extLst>
          </p:cNvPr>
          <p:cNvSpPr/>
          <p:nvPr/>
        </p:nvSpPr>
        <p:spPr>
          <a:xfrm>
            <a:off x="5609380" y="4156137"/>
            <a:ext cx="1598031" cy="28290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1400" b="1" dirty="0"/>
              <a:t>solveIK</a:t>
            </a:r>
            <a:r>
              <a:rPr lang="zh-CN" altLang="en-US" sz="1400" b="1" dirty="0"/>
              <a:t>快捷规划</a:t>
            </a:r>
            <a:endParaRPr lang="zh-CN" altLang="en-US" sz="14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AFB63CE-5163-0796-687C-D7D10A6B2028}"/>
              </a:ext>
            </a:extLst>
          </p:cNvPr>
          <p:cNvSpPr/>
          <p:nvPr/>
        </p:nvSpPr>
        <p:spPr>
          <a:xfrm>
            <a:off x="2633962" y="4488895"/>
            <a:ext cx="6133860" cy="166285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sz="1600" b="1" dirty="0"/>
              <a:t>simulateMotion</a:t>
            </a:r>
            <a:r>
              <a:rPr lang="zh-CN" altLang="en-US" sz="1600" b="1" dirty="0"/>
              <a:t>完整规划</a:t>
            </a:r>
            <a:endParaRPr lang="en-US" altLang="zh-CN" sz="1600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dirty="0"/>
          </a:p>
        </p:txBody>
      </p:sp>
      <p:cxnSp>
        <p:nvCxnSpPr>
          <p:cNvPr id="47" name="连接符: 肘形 46">
            <a:extLst>
              <a:ext uri="{FF2B5EF4-FFF2-40B4-BE49-F238E27FC236}">
                <a16:creationId xmlns:a16="http://schemas.microsoft.com/office/drawing/2014/main" id="{0B42236A-1DCF-4871-635F-0EF563C1C80D}"/>
              </a:ext>
            </a:extLst>
          </p:cNvPr>
          <p:cNvCxnSpPr>
            <a:cxnSpLocks/>
          </p:cNvCxnSpPr>
          <p:nvPr/>
        </p:nvCxnSpPr>
        <p:spPr>
          <a:xfrm rot="5400000">
            <a:off x="4882966" y="4136551"/>
            <a:ext cx="304041" cy="30094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1" name="连接符: 肘形 50">
            <a:extLst>
              <a:ext uri="{FF2B5EF4-FFF2-40B4-BE49-F238E27FC236}">
                <a16:creationId xmlns:a16="http://schemas.microsoft.com/office/drawing/2014/main" id="{8CD3A7D7-587F-83E1-0251-3945EB82540D}"/>
              </a:ext>
            </a:extLst>
          </p:cNvPr>
          <p:cNvCxnSpPr>
            <a:cxnSpLocks/>
          </p:cNvCxnSpPr>
          <p:nvPr/>
        </p:nvCxnSpPr>
        <p:spPr>
          <a:xfrm>
            <a:off x="5185458" y="4154132"/>
            <a:ext cx="423922" cy="130489"/>
          </a:xfrm>
          <a:prstGeom prst="bentConnector3">
            <a:avLst>
              <a:gd name="adj1" fmla="val 853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2" name="矩形 61">
            <a:extLst>
              <a:ext uri="{FF2B5EF4-FFF2-40B4-BE49-F238E27FC236}">
                <a16:creationId xmlns:a16="http://schemas.microsoft.com/office/drawing/2014/main" id="{C03445BF-5EE6-25E1-180E-36531FF290CC}"/>
              </a:ext>
            </a:extLst>
          </p:cNvPr>
          <p:cNvSpPr/>
          <p:nvPr/>
        </p:nvSpPr>
        <p:spPr>
          <a:xfrm>
            <a:off x="2643639" y="4781648"/>
            <a:ext cx="2118167" cy="69616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1400" b="1" dirty="0"/>
              <a:t>armValue</a:t>
            </a:r>
            <a:r>
              <a:rPr lang="en-US" altLang="zh-CN" sz="1400" b="1" dirty="0"/>
              <a:t>/</a:t>
            </a:r>
            <a:r>
              <a:rPr lang="zh-CN" altLang="zh-CN" sz="1400" b="1" dirty="0"/>
              <a:t>armGradient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指导目标函数</a:t>
            </a:r>
            <a:endParaRPr lang="zh-CN" altLang="en-US" sz="1400" dirty="0"/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91797479-635F-9E48-134A-658BA613989A}"/>
              </a:ext>
            </a:extLst>
          </p:cNvPr>
          <p:cNvCxnSpPr/>
          <p:nvPr/>
        </p:nvCxnSpPr>
        <p:spPr>
          <a:xfrm>
            <a:off x="4761806" y="5158728"/>
            <a:ext cx="31072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65" name="矩形 64">
            <a:extLst>
              <a:ext uri="{FF2B5EF4-FFF2-40B4-BE49-F238E27FC236}">
                <a16:creationId xmlns:a16="http://schemas.microsoft.com/office/drawing/2014/main" id="{045C16C7-2034-564F-3A03-8FDD4946A008}"/>
              </a:ext>
            </a:extLst>
          </p:cNvPr>
          <p:cNvSpPr/>
          <p:nvPr/>
        </p:nvSpPr>
        <p:spPr>
          <a:xfrm>
            <a:off x="5077215" y="4685979"/>
            <a:ext cx="3057506" cy="105587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/>
              <a:t>m</a:t>
            </a:r>
            <a:r>
              <a:rPr lang="zh-CN" altLang="zh-CN" sz="1400" b="1" dirty="0"/>
              <a:t>ethod</a:t>
            </a:r>
            <a:r>
              <a:rPr lang="zh-CN" altLang="en-US" sz="1400" b="1" dirty="0"/>
              <a:t>方法层</a:t>
            </a:r>
            <a:endParaRPr lang="en-US" altLang="zh-CN" sz="1400" b="1" dirty="0"/>
          </a:p>
          <a:p>
            <a:endParaRPr lang="en-US" altLang="zh-CN" sz="1400" b="1" dirty="0"/>
          </a:p>
          <a:p>
            <a:endParaRPr lang="en-US" altLang="zh-CN" sz="1400" b="1" dirty="0"/>
          </a:p>
          <a:p>
            <a:pPr algn="ctr"/>
            <a:endParaRPr lang="zh-CN" altLang="en-US" sz="1400" dirty="0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508E7935-E6CC-CD0D-CE5D-DFC94B933C18}"/>
              </a:ext>
            </a:extLst>
          </p:cNvPr>
          <p:cNvSpPr/>
          <p:nvPr/>
        </p:nvSpPr>
        <p:spPr>
          <a:xfrm>
            <a:off x="5596358" y="2203590"/>
            <a:ext cx="1843267" cy="637464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1400" b="1" dirty="0"/>
              <a:t>exportMotorCmd</a:t>
            </a:r>
            <a:endParaRPr lang="en-US" altLang="zh-CN" sz="1400" b="1" dirty="0"/>
          </a:p>
          <a:p>
            <a:pPr algn="ctr"/>
            <a:r>
              <a:rPr lang="zh-CN" altLang="en-US" sz="1400" dirty="0"/>
              <a:t>电控参考数据输出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AAC3ABBB-FFA9-1500-0219-BBB6C47D3F21}"/>
              </a:ext>
            </a:extLst>
          </p:cNvPr>
          <p:cNvSpPr/>
          <p:nvPr/>
        </p:nvSpPr>
        <p:spPr>
          <a:xfrm>
            <a:off x="5816280" y="848164"/>
            <a:ext cx="1623346" cy="80603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TCP</a:t>
            </a:r>
            <a:r>
              <a:rPr lang="zh-CN" altLang="en-US" dirty="0"/>
              <a:t>通讯层</a:t>
            </a:r>
          </a:p>
        </p:txBody>
      </p: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B169FD20-9EDF-F2BA-A048-D1CA48DB9CCB}"/>
              </a:ext>
            </a:extLst>
          </p:cNvPr>
          <p:cNvCxnSpPr>
            <a:cxnSpLocks/>
          </p:cNvCxnSpPr>
          <p:nvPr/>
        </p:nvCxnSpPr>
        <p:spPr>
          <a:xfrm flipH="1" flipV="1">
            <a:off x="6665571" y="1697242"/>
            <a:ext cx="1" cy="5315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A1E2D090-2F8A-3591-EA4D-F45C3A85376F}"/>
              </a:ext>
            </a:extLst>
          </p:cNvPr>
          <p:cNvCxnSpPr>
            <a:cxnSpLocks/>
          </p:cNvCxnSpPr>
          <p:nvPr/>
        </p:nvCxnSpPr>
        <p:spPr>
          <a:xfrm flipV="1">
            <a:off x="6692947" y="2868580"/>
            <a:ext cx="1" cy="129394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3" name="矩形 72">
            <a:extLst>
              <a:ext uri="{FF2B5EF4-FFF2-40B4-BE49-F238E27FC236}">
                <a16:creationId xmlns:a16="http://schemas.microsoft.com/office/drawing/2014/main" id="{B5B78495-F255-49D4-9B1B-5217804FD1E8}"/>
              </a:ext>
            </a:extLst>
          </p:cNvPr>
          <p:cNvSpPr/>
          <p:nvPr/>
        </p:nvSpPr>
        <p:spPr>
          <a:xfrm>
            <a:off x="9294470" y="529920"/>
            <a:ext cx="1539433" cy="2311134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Simulink-</a:t>
            </a:r>
            <a:r>
              <a:rPr lang="en-US" altLang="zh-CN" b="1" dirty="0" err="1"/>
              <a:t>dSPACE</a:t>
            </a:r>
            <a:endParaRPr lang="en-US" altLang="zh-CN" b="1" dirty="0"/>
          </a:p>
          <a:p>
            <a:pPr algn="ctr"/>
            <a:r>
              <a:rPr lang="zh-CN" altLang="en-US" b="1" dirty="0"/>
              <a:t>电控部分</a:t>
            </a:r>
            <a:endParaRPr lang="en-US" altLang="zh-CN" b="1" dirty="0"/>
          </a:p>
        </p:txBody>
      </p: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CDD39120-AD1D-2EE5-4CFF-6C0C50FF1225}"/>
              </a:ext>
            </a:extLst>
          </p:cNvPr>
          <p:cNvCxnSpPr>
            <a:stCxn id="67" idx="3"/>
          </p:cNvCxnSpPr>
          <p:nvPr/>
        </p:nvCxnSpPr>
        <p:spPr>
          <a:xfrm flipV="1">
            <a:off x="7439626" y="1251180"/>
            <a:ext cx="182012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4D62BF68-508C-8F56-90F7-B66C873AA4EF}"/>
              </a:ext>
            </a:extLst>
          </p:cNvPr>
          <p:cNvSpPr txBox="1"/>
          <p:nvPr/>
        </p:nvSpPr>
        <p:spPr>
          <a:xfrm>
            <a:off x="6665571" y="3290749"/>
            <a:ext cx="9076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err="1"/>
              <a:t>i</a:t>
            </a:r>
            <a:r>
              <a:rPr lang="zh-CN" altLang="zh-CN" sz="1200" dirty="0"/>
              <a:t>nfo</a:t>
            </a:r>
            <a:r>
              <a:rPr lang="zh-CN" altLang="en-US" sz="1200" dirty="0"/>
              <a:t>字段</a:t>
            </a:r>
            <a:endParaRPr lang="en-US" altLang="zh-CN" sz="1200" dirty="0"/>
          </a:p>
          <a:p>
            <a:r>
              <a:rPr lang="en-US" altLang="zh-CN" sz="1200" dirty="0"/>
              <a:t>-&gt;</a:t>
            </a:r>
          </a:p>
          <a:p>
            <a:r>
              <a:rPr lang="en-US" altLang="zh-CN" sz="1200" dirty="0" err="1"/>
              <a:t>motorCmd</a:t>
            </a:r>
            <a:endParaRPr lang="zh-CN" altLang="en-US" sz="1200" dirty="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D8CB6701-72B2-6C63-0105-37D1C304D33E}"/>
              </a:ext>
            </a:extLst>
          </p:cNvPr>
          <p:cNvSpPr txBox="1"/>
          <p:nvPr/>
        </p:nvSpPr>
        <p:spPr>
          <a:xfrm>
            <a:off x="6648209" y="1782760"/>
            <a:ext cx="11126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FFF00"/>
                </a:solidFill>
              </a:rPr>
              <a:t>格式化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0B1E3CDF-137B-16F4-7FCD-9E422FE7BD00}"/>
              </a:ext>
            </a:extLst>
          </p:cNvPr>
          <p:cNvSpPr/>
          <p:nvPr/>
        </p:nvSpPr>
        <p:spPr>
          <a:xfrm>
            <a:off x="5072533" y="5584921"/>
            <a:ext cx="3057506" cy="313856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LGM</a:t>
            </a:r>
            <a:r>
              <a:rPr lang="zh-CN" altLang="en-US" sz="1400" dirty="0"/>
              <a:t>多步规划器</a:t>
            </a:r>
            <a:r>
              <a:rPr lang="en-US" altLang="zh-CN" sz="1400" dirty="0"/>
              <a:t>-&gt;</a:t>
            </a:r>
            <a:r>
              <a:rPr lang="zh-CN" altLang="en-US" sz="1400" dirty="0"/>
              <a:t>多步求解</a:t>
            </a:r>
          </a:p>
        </p:txBody>
      </p:sp>
      <p:cxnSp>
        <p:nvCxnSpPr>
          <p:cNvPr id="86" name="连接符: 肘形 85">
            <a:extLst>
              <a:ext uri="{FF2B5EF4-FFF2-40B4-BE49-F238E27FC236}">
                <a16:creationId xmlns:a16="http://schemas.microsoft.com/office/drawing/2014/main" id="{62E514EC-9EE9-DE07-4697-8687732FEF45}"/>
              </a:ext>
            </a:extLst>
          </p:cNvPr>
          <p:cNvCxnSpPr>
            <a:endCxn id="84" idx="1"/>
          </p:cNvCxnSpPr>
          <p:nvPr/>
        </p:nvCxnSpPr>
        <p:spPr>
          <a:xfrm rot="16200000" flipH="1">
            <a:off x="4722890" y="5392206"/>
            <a:ext cx="388558" cy="310727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8" name="矩形 87">
            <a:extLst>
              <a:ext uri="{FF2B5EF4-FFF2-40B4-BE49-F238E27FC236}">
                <a16:creationId xmlns:a16="http://schemas.microsoft.com/office/drawing/2014/main" id="{2A07A36C-FA76-5327-4176-9351A2565EC5}"/>
              </a:ext>
            </a:extLst>
          </p:cNvPr>
          <p:cNvSpPr/>
          <p:nvPr/>
        </p:nvSpPr>
        <p:spPr>
          <a:xfrm>
            <a:off x="5080830" y="5080961"/>
            <a:ext cx="3057506" cy="313856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默认</a:t>
            </a:r>
            <a:r>
              <a:rPr lang="en-US" altLang="zh-CN" sz="1400" dirty="0"/>
              <a:t>auto</a:t>
            </a:r>
            <a:r>
              <a:rPr lang="zh-CN" altLang="en-US" sz="1400" dirty="0"/>
              <a:t>方法单步求解</a:t>
            </a:r>
          </a:p>
        </p:txBody>
      </p:sp>
      <p:cxnSp>
        <p:nvCxnSpPr>
          <p:cNvPr id="90" name="连接符: 肘形 89">
            <a:extLst>
              <a:ext uri="{FF2B5EF4-FFF2-40B4-BE49-F238E27FC236}">
                <a16:creationId xmlns:a16="http://schemas.microsoft.com/office/drawing/2014/main" id="{4DC6DDC5-96FE-A798-A94A-F6A640BE5A60}"/>
              </a:ext>
            </a:extLst>
          </p:cNvPr>
          <p:cNvCxnSpPr>
            <a:cxnSpLocks/>
          </p:cNvCxnSpPr>
          <p:nvPr/>
        </p:nvCxnSpPr>
        <p:spPr>
          <a:xfrm rot="16200000" flipV="1">
            <a:off x="6591538" y="3875831"/>
            <a:ext cx="830976" cy="636608"/>
          </a:xfrm>
          <a:prstGeom prst="bentConnector3">
            <a:avLst>
              <a:gd name="adj1" fmla="val 78554"/>
            </a:avLst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F5F9E70A-CC5A-3BF6-D25F-24007A0F0491}"/>
              </a:ext>
            </a:extLst>
          </p:cNvPr>
          <p:cNvCxnSpPr/>
          <p:nvPr/>
        </p:nvCxnSpPr>
        <p:spPr>
          <a:xfrm flipH="1">
            <a:off x="7439625" y="1087224"/>
            <a:ext cx="18201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文本框 102">
            <a:extLst>
              <a:ext uri="{FF2B5EF4-FFF2-40B4-BE49-F238E27FC236}">
                <a16:creationId xmlns:a16="http://schemas.microsoft.com/office/drawing/2014/main" id="{AF53EA6B-B9F1-64E8-497E-AB666CC353EA}"/>
              </a:ext>
            </a:extLst>
          </p:cNvPr>
          <p:cNvSpPr txBox="1"/>
          <p:nvPr/>
        </p:nvSpPr>
        <p:spPr>
          <a:xfrm>
            <a:off x="349924" y="4602815"/>
            <a:ext cx="27578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蛇形机器人</a:t>
            </a:r>
            <a:endParaRPr lang="en-US" altLang="zh-CN" b="1" dirty="0"/>
          </a:p>
          <a:p>
            <a:r>
              <a:rPr lang="zh-CN" altLang="en-US" b="1" dirty="0"/>
              <a:t>软件与算法总图</a:t>
            </a:r>
            <a:endParaRPr lang="en-US" altLang="zh-CN" b="1" dirty="0"/>
          </a:p>
          <a:p>
            <a:r>
              <a:rPr lang="en-US" altLang="zh-CN" b="1"/>
              <a:t>————————</a:t>
            </a:r>
            <a:endParaRPr lang="en-US" altLang="zh-CN" b="1" dirty="0"/>
          </a:p>
          <a:p>
            <a:r>
              <a:rPr lang="zh-CN" altLang="zh-CN" b="1" dirty="0"/>
              <a:t>在线任务执行</a:t>
            </a:r>
            <a:r>
              <a:rPr lang="zh-CN" altLang="en-US" b="1" dirty="0"/>
              <a:t>链路</a:t>
            </a:r>
            <a:endParaRPr lang="zh-CN" altLang="zh-CN" b="1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24284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103</Words>
  <Application>Microsoft Office PowerPoint</Application>
  <PresentationFormat>宽屏</PresentationFormat>
  <Paragraphs>57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兴波 叶</dc:creator>
  <cp:lastModifiedBy>兴波 叶</cp:lastModifiedBy>
  <cp:revision>2</cp:revision>
  <dcterms:created xsi:type="dcterms:W3CDTF">2026-09-02T02:53:02Z</dcterms:created>
  <dcterms:modified xsi:type="dcterms:W3CDTF">2026-09-02T05:37:09Z</dcterms:modified>
</cp:coreProperties>
</file>